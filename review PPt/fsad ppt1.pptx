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Gotham Bold Italics" panose="020B0604020202020204" charset="0"/>
      <p:regular r:id="rId18"/>
    </p:embeddedFont>
    <p:embeddedFont>
      <p:font typeface="Cambria" panose="02040503050406030204" pitchFamily="18" charset="0"/>
      <p:regular r:id="rId19"/>
      <p:bold r:id="rId20"/>
      <p:italic r:id="rId21"/>
      <p:boldItalic r:id="rId22"/>
    </p:embeddedFont>
    <p:embeddedFont>
      <p:font typeface="Bookman Old Style" panose="02050604050505020204" pitchFamily="18" charset="0"/>
      <p:regular r:id="rId23"/>
      <p:bold r:id="rId24"/>
      <p:italic r:id="rId25"/>
      <p:boldItalic r:id="rId26"/>
    </p:embeddedFont>
    <p:embeddedFont>
      <p:font typeface="Calibri" panose="020F0502020204030204" pitchFamily="34" charset="0"/>
      <p:regular r:id="rId27"/>
      <p:bold r:id="rId28"/>
      <p:italic r:id="rId29"/>
      <p:boldItalic r:id="rId30"/>
    </p:embeddedFont>
    <p:embeddedFont>
      <p:font typeface="Gotham"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10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B4575-61D1-4B02-AA6C-3776F65093C6}" type="datetimeFigureOut">
              <a:rPr lang="en-IN" smtClean="0"/>
              <a:t>04-03-2026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AB35A-7D43-4605-95FC-73D055096205}" type="slidenum">
              <a:rPr lang="en-IN" smtClean="0"/>
              <a:t>‹#›</a:t>
            </a:fld>
            <a:endParaRPr lang="en-IN"/>
          </a:p>
        </p:txBody>
      </p:sp>
    </p:spTree>
    <p:extLst>
      <p:ext uri="{BB962C8B-B14F-4D97-AF65-F5344CB8AC3E}">
        <p14:creationId xmlns:p14="http://schemas.microsoft.com/office/powerpoint/2010/main" val="3378363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8AB35A-7D43-4605-95FC-73D055096205}" type="slidenum">
              <a:rPr lang="en-IN" smtClean="0"/>
              <a:t>6</a:t>
            </a:fld>
            <a:endParaRPr lang="en-IN"/>
          </a:p>
        </p:txBody>
      </p:sp>
    </p:spTree>
    <p:extLst>
      <p:ext uri="{BB962C8B-B14F-4D97-AF65-F5344CB8AC3E}">
        <p14:creationId xmlns:p14="http://schemas.microsoft.com/office/powerpoint/2010/main" val="612491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IN" sz="3600" b="1" dirty="0" smtClean="0">
                <a:solidFill>
                  <a:srgbClr val="C00000"/>
                </a:solidFill>
                <a:latin typeface="Arial" panose="020B0604020202020204" pitchFamily="34" charset="0"/>
                <a:cs typeface="Arial" panose="020B0604020202020204" pitchFamily="34" charset="0"/>
              </a:rPr>
              <a:t>04-03-2026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GB" sz="3200" b="1" dirty="0">
                <a:solidFill>
                  <a:srgbClr val="0033CC"/>
                </a:solidFill>
                <a:latin typeface="Times New Roman" panose="02020603050405020304" pitchFamily="18" charset="0"/>
                <a:cs typeface="Times New Roman" panose="02020603050405020304" pitchFamily="18" charset="0"/>
              </a:rPr>
              <a:t>Dynamic Online Examination &amp; Result Processing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EA8EEF4A-EB43-B7D9-87FC-7C7D752BCA78}"/>
              </a:ext>
            </a:extLst>
          </p:cNvPr>
          <p:cNvSpPr txBox="1"/>
          <p:nvPr/>
        </p:nvSpPr>
        <p:spPr>
          <a:xfrm>
            <a:off x="893870" y="7800539"/>
            <a:ext cx="9067800"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smtClean="0">
                <a:latin typeface="Cambria" panose="02040503050406030204" pitchFamily="18" charset="0"/>
                <a:ea typeface="Cambria" panose="02040503050406030204" pitchFamily="18" charset="0"/>
              </a:rPr>
              <a:t>A.PRANEETHA– VTU24447 –23UECS0052</a:t>
            </a:r>
          </a:p>
          <a:p>
            <a:pPr>
              <a:lnSpc>
                <a:spcPct val="150000"/>
              </a:lnSpc>
            </a:pP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 xmlns:a16="http://schemas.microsoft.com/office/drawing/2014/main" id="{6FF32D1A-2F9C-AC53-CCBD-ABF748DF236F}"/>
              </a:ext>
            </a:extLst>
          </p:cNvPr>
          <p:cNvSpPr txBox="1"/>
          <p:nvPr/>
        </p:nvSpPr>
        <p:spPr>
          <a:xfrm>
            <a:off x="10945035" y="7818586"/>
            <a:ext cx="6914603"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smtClean="0">
                <a:latin typeface="Cambria" panose="02040503050406030204" pitchFamily="18" charset="0"/>
                <a:ea typeface="Cambria" panose="02040503050406030204" pitchFamily="18" charset="0"/>
              </a:rPr>
              <a:t>Dr. S . Hemamalini,M.E,Ph.D.,</a:t>
            </a:r>
          </a:p>
          <a:p>
            <a:pPr>
              <a:lnSpc>
                <a:spcPct val="150000"/>
              </a:lnSpc>
            </a:pPr>
            <a:r>
              <a:rPr lang="en-US" sz="3000" dirty="0" smtClean="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smtClean="0">
                <a:latin typeface="Cambria" panose="02040503050406030204" pitchFamily="18" charset="0"/>
                <a:ea typeface="Cambria" panose="02040503050406030204" pitchFamily="18" charset="0"/>
              </a:rPr>
              <a:t>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 xmlns:a16="http://schemas.microsoft.com/office/drawing/2014/main" id="{837E9E58-77B6-079D-9D0D-E380CADAD23D}"/>
              </a:ext>
            </a:extLst>
          </p:cNvPr>
          <p:cNvSpPr txBox="1"/>
          <p:nvPr/>
        </p:nvSpPr>
        <p:spPr>
          <a:xfrm>
            <a:off x="2133600" y="1985855"/>
            <a:ext cx="15463325" cy="6555641"/>
          </a:xfrm>
          <a:prstGeom prst="rect">
            <a:avLst/>
          </a:prstGeom>
          <a:noFill/>
        </p:spPr>
        <p:txBody>
          <a:bodyPr wrap="square" rtlCol="0">
            <a:spAutoFit/>
          </a:bodyPr>
          <a:lstStyle/>
          <a:p>
            <a:r>
              <a:rPr lang="en-GB" sz="2800" b="1" dirty="0"/>
              <a:t>Background:</a:t>
            </a:r>
          </a:p>
          <a:p>
            <a:pPr marL="457200" indent="-457200">
              <a:buFont typeface="Arial" panose="020B0604020202020204" pitchFamily="34" charset="0"/>
              <a:buChar char="•"/>
            </a:pPr>
            <a:r>
              <a:rPr lang="en-GB" sz="2800" dirty="0"/>
              <a:t>Traditional examination systems rely heavily on manual processes for conducting tests and evaluating answer sheets</a:t>
            </a:r>
            <a:r>
              <a:rPr lang="en-GB" sz="2800" dirty="0" smtClean="0"/>
              <a:t>.</a:t>
            </a:r>
          </a:p>
          <a:p>
            <a:pPr marL="457200" indent="-457200">
              <a:buFont typeface="Arial" panose="020B0604020202020204" pitchFamily="34" charset="0"/>
              <a:buChar char="•"/>
            </a:pPr>
            <a:endParaRPr lang="en-GB" sz="2800" dirty="0"/>
          </a:p>
          <a:p>
            <a:r>
              <a:rPr lang="en-GB" sz="2800" b="1" dirty="0"/>
              <a:t>Need for the Project:</a:t>
            </a:r>
          </a:p>
          <a:p>
            <a:pPr marL="457200" indent="-457200">
              <a:buFont typeface="Arial" panose="020B0604020202020204" pitchFamily="34" charset="0"/>
              <a:buChar char="•"/>
            </a:pPr>
            <a:r>
              <a:rPr lang="en-GB" sz="2800" dirty="0"/>
              <a:t>Manual evaluation consumes time and may lead to calculation errors or delays in result publishing</a:t>
            </a:r>
            <a:r>
              <a:rPr lang="en-GB" sz="2800" dirty="0" smtClean="0"/>
              <a:t>.</a:t>
            </a:r>
          </a:p>
          <a:p>
            <a:pPr marL="457200" indent="-457200">
              <a:buFont typeface="Arial" panose="020B0604020202020204" pitchFamily="34" charset="0"/>
              <a:buChar char="•"/>
            </a:pPr>
            <a:r>
              <a:rPr lang="en-GB" sz="2800" dirty="0" smtClean="0"/>
              <a:t>There is a need for a reliable system that ensures faster assessment and immediate result generation.</a:t>
            </a:r>
            <a:endParaRPr lang="en-GB" sz="2800" dirty="0"/>
          </a:p>
          <a:p>
            <a:pPr marL="457200" indent="-457200">
              <a:buFont typeface="Arial" panose="020B0604020202020204" pitchFamily="34" charset="0"/>
              <a:buChar char="•"/>
            </a:pPr>
            <a:endParaRPr lang="en-GB" sz="2800" dirty="0"/>
          </a:p>
          <a:p>
            <a:r>
              <a:rPr lang="en-GB" sz="2800" b="1" dirty="0"/>
              <a:t>Real-World Relevance:</a:t>
            </a:r>
          </a:p>
          <a:p>
            <a:pPr marL="457200" indent="-457200">
              <a:buFont typeface="Arial" panose="020B0604020202020204" pitchFamily="34" charset="0"/>
              <a:buChar char="•"/>
            </a:pPr>
            <a:r>
              <a:rPr lang="en-GB" sz="2800" dirty="0"/>
              <a:t>With the rise of digital education platforms, institutions require automated and efficient assessment systems</a:t>
            </a:r>
            <a:r>
              <a:rPr lang="en-GB" sz="2800" dirty="0" smtClean="0"/>
              <a:t>.</a:t>
            </a:r>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b="1" dirty="0"/>
              <a:t>System Overview:</a:t>
            </a:r>
          </a:p>
          <a:p>
            <a:pPr marL="457200" indent="-457200">
              <a:buFont typeface="Arial" panose="020B0604020202020204" pitchFamily="34" charset="0"/>
              <a:buChar char="•"/>
            </a:pPr>
            <a:r>
              <a:rPr lang="en-GB" sz="2800" dirty="0"/>
              <a:t>The proposed Dynamic Online Examination &amp; Result Processing System enables students to attend exams online and receive instant results through automated evaluation.</a:t>
            </a: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BDE2941C-1504-53F9-99B2-48002CA9A345}"/>
              </a:ext>
            </a:extLst>
          </p:cNvPr>
          <p:cNvSpPr txBox="1"/>
          <p:nvPr/>
        </p:nvSpPr>
        <p:spPr>
          <a:xfrm>
            <a:off x="2176975" y="2135315"/>
            <a:ext cx="15082325" cy="10901446"/>
          </a:xfrm>
          <a:prstGeom prst="rect">
            <a:avLst/>
          </a:prstGeom>
          <a:noFill/>
        </p:spPr>
        <p:txBody>
          <a:bodyPr wrap="square" rtlCol="0">
            <a:spAutoFit/>
          </a:bodyPr>
          <a:lstStyle/>
          <a:p>
            <a:pPr>
              <a:lnSpc>
                <a:spcPct val="120000"/>
              </a:lnSpc>
            </a:pPr>
            <a:r>
              <a:rPr lang="en-GB" sz="2800" dirty="0"/>
              <a:t>                           Despite the rapid digital transformation in education, many institutions still rely on traditional examination methods that involve manual paper evaluation. This process is time-intensive, increases faculty workload, and often leads to delays in result publication. Moreover, manual correction lacks transparency and may introduce human errors in scoring</a:t>
            </a:r>
            <a:r>
              <a:rPr lang="en-GB" sz="2800" dirty="0" smtClean="0"/>
              <a:t>.</a:t>
            </a:r>
          </a:p>
          <a:p>
            <a:endParaRPr lang="en-GB" sz="2800" dirty="0"/>
          </a:p>
          <a:p>
            <a:r>
              <a:rPr lang="en-GB" sz="2800" dirty="0"/>
              <a:t>As academic systems evolve towards digital platforms, there is a pressing need for an efficient, automated, and reliable examination framework. Institutions require a solution that can conduct assessments seamlessly, evaluate responses instantly, and maintain accuracy and consistency in result generation</a:t>
            </a:r>
            <a:r>
              <a:rPr lang="en-GB" sz="2800" dirty="0" smtClean="0"/>
              <a:t>.</a:t>
            </a:r>
          </a:p>
          <a:p>
            <a:endParaRPr lang="en-GB" sz="2800" dirty="0"/>
          </a:p>
          <a:p>
            <a:r>
              <a:rPr lang="en-GB" sz="2800" dirty="0"/>
              <a:t>Hence, a dynamic online examination and result processing system becomes essential to modernize assessment practices and enhance overall academic efficiency.</a:t>
            </a:r>
            <a:endParaRPr lang="en-US" sz="2800" dirty="0"/>
          </a:p>
          <a:p>
            <a:pPr marL="457200" indent="-457200">
              <a:buFontTx/>
              <a:buChar char="-"/>
            </a:pPr>
            <a:endParaRPr lang="en-US" sz="3200" dirty="0"/>
          </a:p>
          <a:p>
            <a:pPr marL="457200" indent="-457200">
              <a:buFontTx/>
              <a:buChar char="-"/>
            </a:pPr>
            <a:endParaRPr lang="en-US" sz="32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52" name="TextBox 51">
            <a:extLst>
              <a:ext uri="{FF2B5EF4-FFF2-40B4-BE49-F238E27FC236}">
                <a16:creationId xmlns="" xmlns:a16="http://schemas.microsoft.com/office/drawing/2014/main" id="{056A0A3A-1541-5EC0-5370-02DA282ABDDE}"/>
              </a:ext>
            </a:extLst>
          </p:cNvPr>
          <p:cNvSpPr txBox="1"/>
          <p:nvPr/>
        </p:nvSpPr>
        <p:spPr>
          <a:xfrm>
            <a:off x="2057400" y="2015465"/>
            <a:ext cx="15082325" cy="7417415"/>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GB" sz="2800" dirty="0"/>
              <a:t>To design and develop a dynamic online examination system that enables secure and structured assessment.</a:t>
            </a:r>
          </a:p>
          <a:p>
            <a:pPr marL="457200" indent="-457200">
              <a:lnSpc>
                <a:spcPct val="150000"/>
              </a:lnSpc>
              <a:buFont typeface="Arial" panose="020B0604020202020204" pitchFamily="34" charset="0"/>
              <a:buChar char="•"/>
            </a:pPr>
            <a:r>
              <a:rPr lang="en-GB" sz="2800" dirty="0" smtClean="0"/>
              <a:t> </a:t>
            </a:r>
            <a:r>
              <a:rPr lang="en-GB" sz="2800" dirty="0" smtClean="0"/>
              <a:t> </a:t>
            </a:r>
            <a:r>
              <a:rPr lang="en-GB" sz="2800" dirty="0"/>
              <a:t>A</a:t>
            </a:r>
            <a:r>
              <a:rPr lang="en-GB" sz="2800" dirty="0" smtClean="0"/>
              <a:t>utomate </a:t>
            </a:r>
            <a:r>
              <a:rPr lang="en-GB" sz="2800" dirty="0"/>
              <a:t>the evaluation process for objective-type questions and generate instant results.</a:t>
            </a:r>
          </a:p>
          <a:p>
            <a:pPr marL="457200" indent="-457200">
              <a:lnSpc>
                <a:spcPct val="150000"/>
              </a:lnSpc>
              <a:buFont typeface="Arial" panose="020B0604020202020204" pitchFamily="34" charset="0"/>
              <a:buChar char="•"/>
            </a:pPr>
            <a:r>
              <a:rPr lang="en-GB" sz="2800" dirty="0" smtClean="0"/>
              <a:t> </a:t>
            </a:r>
            <a:r>
              <a:rPr lang="en-GB" sz="2800" dirty="0" smtClean="0"/>
              <a:t> </a:t>
            </a:r>
            <a:r>
              <a:rPr lang="en-GB" sz="2800" dirty="0" smtClean="0"/>
              <a:t>R</a:t>
            </a:r>
            <a:r>
              <a:rPr lang="en-GB" sz="2800" dirty="0" smtClean="0"/>
              <a:t>educe </a:t>
            </a:r>
            <a:r>
              <a:rPr lang="en-GB" sz="2800" dirty="0"/>
              <a:t>manual workload and eliminate errors in score calculation.</a:t>
            </a:r>
          </a:p>
          <a:p>
            <a:pPr marL="457200" indent="-457200">
              <a:lnSpc>
                <a:spcPct val="150000"/>
              </a:lnSpc>
              <a:buFont typeface="Arial" panose="020B0604020202020204" pitchFamily="34" charset="0"/>
              <a:buChar char="•"/>
            </a:pPr>
            <a:r>
              <a:rPr lang="en-GB" sz="2800" dirty="0" smtClean="0"/>
              <a:t> </a:t>
            </a:r>
            <a:r>
              <a:rPr lang="en-GB" sz="2800" dirty="0" smtClean="0"/>
              <a:t> </a:t>
            </a:r>
            <a:r>
              <a:rPr lang="en-GB" sz="2800" dirty="0" smtClean="0"/>
              <a:t>P</a:t>
            </a:r>
            <a:r>
              <a:rPr lang="en-GB" sz="2800" dirty="0" smtClean="0"/>
              <a:t>rovide </a:t>
            </a:r>
            <a:r>
              <a:rPr lang="en-GB" sz="2800" dirty="0"/>
              <a:t>a user-friendly interface for both administrators and students.</a:t>
            </a:r>
          </a:p>
          <a:p>
            <a:pPr marL="457200" indent="-457200">
              <a:lnSpc>
                <a:spcPct val="114000"/>
              </a:lnSpc>
              <a:buFont typeface="Arial" panose="020B0604020202020204" pitchFamily="34" charset="0"/>
              <a:buChar char="•"/>
            </a:pPr>
            <a:r>
              <a:rPr lang="en-GB" sz="2800" dirty="0" smtClean="0"/>
              <a:t> </a:t>
            </a:r>
            <a:r>
              <a:rPr lang="en-GB" sz="2800" dirty="0" smtClean="0"/>
              <a:t> Ensure </a:t>
            </a:r>
            <a:r>
              <a:rPr lang="en-GB" sz="2800" dirty="0"/>
              <a:t>accuracy, transparency, and efficiency in the examination process.</a:t>
            </a:r>
            <a:endParaRPr lang="en-US" sz="2800" dirty="0"/>
          </a:p>
          <a:p>
            <a:pPr marL="457200" indent="-457200">
              <a:lnSpc>
                <a:spcPct val="150000"/>
              </a:lnSpc>
              <a:buFontTx/>
              <a:buChar char="-"/>
            </a:pPr>
            <a:endParaRPr lang="en-US" sz="2800" dirty="0"/>
          </a:p>
          <a:p>
            <a:pPr marL="457200" indent="-457200">
              <a:lnSpc>
                <a:spcPct val="150000"/>
              </a:lnSpc>
              <a:buFontTx/>
              <a:buChar char="-"/>
            </a:pPr>
            <a:endParaRPr lang="en-US" sz="2800" dirty="0"/>
          </a:p>
          <a:p>
            <a:pPr marL="457200" indent="-457200">
              <a:lnSpc>
                <a:spcPct val="150000"/>
              </a:lnSpc>
              <a:buFontTx/>
              <a:buChar char="-"/>
            </a:pPr>
            <a:endParaRPr lang="en-US" sz="2800" dirty="0"/>
          </a:p>
          <a:p>
            <a:pPr marL="457200" indent="-457200">
              <a:lnSpc>
                <a:spcPct val="150000"/>
              </a:lnSpc>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6" name="TextBox 45">
            <a:extLst>
              <a:ext uri="{FF2B5EF4-FFF2-40B4-BE49-F238E27FC236}">
                <a16:creationId xmlns=""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E8F19716-1653-9AE0-442E-B3829A585B46}"/>
              </a:ext>
            </a:extLst>
          </p:cNvPr>
          <p:cNvSpPr txBox="1"/>
          <p:nvPr/>
        </p:nvSpPr>
        <p:spPr>
          <a:xfrm>
            <a:off x="1981200" y="2052809"/>
            <a:ext cx="15082325" cy="11536748"/>
          </a:xfrm>
          <a:prstGeom prst="rect">
            <a:avLst/>
          </a:prstGeom>
          <a:noFill/>
        </p:spPr>
        <p:txBody>
          <a:bodyPr wrap="square" rtlCol="0">
            <a:spAutoFit/>
          </a:bodyPr>
          <a:lstStyle/>
          <a:p>
            <a:pPr marL="914400" lvl="1" indent="-457200">
              <a:buFont typeface="Arial" panose="020B0604020202020204" pitchFamily="34" charset="0"/>
              <a:buChar char="•"/>
            </a:pPr>
            <a:r>
              <a:rPr lang="en-GB" sz="2800" dirty="0"/>
              <a:t>After </a:t>
            </a:r>
            <a:r>
              <a:rPr lang="en-GB" sz="2800" dirty="0" smtClean="0"/>
              <a:t>analysing  </a:t>
            </a:r>
            <a:r>
              <a:rPr lang="en-GB" sz="2800" dirty="0"/>
              <a:t>the limitations of traditional examination methods, a web-based Dynamic Online Examination and Result Processing System was designed to automate the assessment process.</a:t>
            </a:r>
          </a:p>
          <a:p>
            <a:pPr marL="914400" lvl="1" indent="-457200">
              <a:buFont typeface="Arial" panose="020B0604020202020204" pitchFamily="34" charset="0"/>
              <a:buChar char="•"/>
            </a:pPr>
            <a:r>
              <a:rPr lang="en-GB" sz="2800" dirty="0" smtClean="0"/>
              <a:t>The </a:t>
            </a:r>
            <a:r>
              <a:rPr lang="en-GB" sz="2800" dirty="0"/>
              <a:t>system was developed using a structured full-stack approach, integrating frontend interfaces with backend logic for seamless functionality.</a:t>
            </a:r>
          </a:p>
          <a:p>
            <a:pPr marL="914400" lvl="1" indent="-457200">
              <a:buFont typeface="Arial" panose="020B0604020202020204" pitchFamily="34" charset="0"/>
              <a:buChar char="•"/>
            </a:pPr>
            <a:r>
              <a:rPr lang="en-GB" sz="2800" dirty="0" smtClean="0"/>
              <a:t>An </a:t>
            </a:r>
            <a:r>
              <a:rPr lang="en-GB" sz="2800" dirty="0"/>
              <a:t>administrator module was implemented to add, manage, and organize question banks dynamically.</a:t>
            </a:r>
          </a:p>
          <a:p>
            <a:pPr marL="914400" lvl="1" indent="-457200">
              <a:buFont typeface="Arial" panose="020B0604020202020204" pitchFamily="34" charset="0"/>
              <a:buChar char="•"/>
            </a:pPr>
            <a:r>
              <a:rPr lang="en-GB" sz="2800" dirty="0" smtClean="0"/>
              <a:t> </a:t>
            </a:r>
            <a:r>
              <a:rPr lang="en-GB" sz="2800" dirty="0"/>
              <a:t>A secure login mechanism was incorporated to ensure controlled access for users.</a:t>
            </a:r>
          </a:p>
          <a:p>
            <a:pPr marL="914400" lvl="1" indent="-457200">
              <a:buFont typeface="Arial" panose="020B0604020202020204" pitchFamily="34" charset="0"/>
              <a:buChar char="•"/>
            </a:pPr>
            <a:r>
              <a:rPr lang="en-GB" sz="2800" dirty="0" smtClean="0"/>
              <a:t> </a:t>
            </a:r>
            <a:r>
              <a:rPr lang="en-GB" sz="2800" dirty="0"/>
              <a:t>The examination module was designed to allow students to attempt objective-type questions in an interactive and user-friendly environment.</a:t>
            </a:r>
          </a:p>
          <a:p>
            <a:pPr marL="914400" lvl="1" indent="-457200">
              <a:buFont typeface="Arial" panose="020B0604020202020204" pitchFamily="34" charset="0"/>
              <a:buChar char="•"/>
            </a:pPr>
            <a:r>
              <a:rPr lang="en-GB" sz="2800" dirty="0" smtClean="0"/>
              <a:t>Automatic </a:t>
            </a:r>
            <a:r>
              <a:rPr lang="en-GB" sz="2800" dirty="0"/>
              <a:t>evaluation logic was implemented to calculate scores instantly upon submission.</a:t>
            </a:r>
          </a:p>
          <a:p>
            <a:pPr marL="914400" lvl="1" indent="-457200">
              <a:lnSpc>
                <a:spcPct val="114000"/>
              </a:lnSpc>
              <a:buFont typeface="Arial" panose="020B0604020202020204" pitchFamily="34" charset="0"/>
              <a:buChar char="•"/>
            </a:pPr>
            <a:r>
              <a:rPr lang="en-GB" sz="2800" dirty="0"/>
              <a:t>The result processing component generates and displays performance instantly, enhancing transparency and eliminating delays</a:t>
            </a:r>
            <a:r>
              <a:rPr lang="en-GB" sz="2800" dirty="0" smtClean="0"/>
              <a:t>.</a:t>
            </a:r>
          </a:p>
          <a:p>
            <a:pPr marL="914400" lvl="1" indent="-457200">
              <a:lnSpc>
                <a:spcPct val="114000"/>
              </a:lnSpc>
              <a:buFont typeface="Arial" panose="020B0604020202020204" pitchFamily="34" charset="0"/>
              <a:buChar char="•"/>
            </a:pPr>
            <a:r>
              <a:rPr lang="en-GB" sz="2800" dirty="0" smtClean="0"/>
              <a:t>Overall</a:t>
            </a:r>
            <a:r>
              <a:rPr lang="en-GB" sz="2800" dirty="0"/>
              <a:t>, the system provides a reliable, efficient, and scalable digital solution for modern academic assessment.</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2" name="TextBox 41">
            <a:extLst>
              <a:ext uri="{FF2B5EF4-FFF2-40B4-BE49-F238E27FC236}">
                <a16:creationId xmlns=""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 xmlns:a16="http://schemas.microsoft.com/office/drawing/2014/main" id="{25F9D4B0-38FE-DBA4-164D-1745B68379A5}"/>
              </a:ext>
            </a:extLst>
          </p:cNvPr>
          <p:cNvSpPr txBox="1"/>
          <p:nvPr/>
        </p:nvSpPr>
        <p:spPr>
          <a:xfrm>
            <a:off x="2188296" y="1564574"/>
            <a:ext cx="9829800" cy="8279190"/>
          </a:xfrm>
          <a:prstGeom prst="rect">
            <a:avLst/>
          </a:prstGeom>
          <a:noFill/>
        </p:spPr>
        <p:txBody>
          <a:bodyPr wrap="square" rtlCol="0">
            <a:spAutoFit/>
          </a:bodyPr>
          <a:lstStyle/>
          <a:p>
            <a:r>
              <a:rPr lang="en-GB" sz="2800" b="1" dirty="0" smtClean="0"/>
              <a:t>Input :</a:t>
            </a:r>
          </a:p>
          <a:p>
            <a:pPr marL="457200" indent="-457200">
              <a:buFont typeface="Arial" panose="020B0604020202020204" pitchFamily="34" charset="0"/>
              <a:buChar char="•"/>
            </a:pPr>
            <a:r>
              <a:rPr lang="en-GB" sz="2800" dirty="0" smtClean="0"/>
              <a:t>The </a:t>
            </a:r>
            <a:r>
              <a:rPr lang="en-GB" sz="2800" dirty="0"/>
              <a:t>system receives input from both admin and students.</a:t>
            </a:r>
          </a:p>
          <a:p>
            <a:pPr marL="457200" indent="-457200">
              <a:buFont typeface="Arial" panose="020B0604020202020204" pitchFamily="34" charset="0"/>
              <a:buChar char="•"/>
            </a:pPr>
            <a:r>
              <a:rPr lang="en-GB" sz="2800" dirty="0"/>
              <a:t>Admin enters questions and correct answers into the system.</a:t>
            </a:r>
          </a:p>
          <a:p>
            <a:pPr marL="457200" indent="-457200">
              <a:buFont typeface="Arial" panose="020B0604020202020204" pitchFamily="34" charset="0"/>
              <a:buChar char="•"/>
            </a:pPr>
            <a:r>
              <a:rPr lang="en-GB" sz="2800" dirty="0"/>
              <a:t>Students log in and submit their responses during the exam</a:t>
            </a:r>
            <a:r>
              <a:rPr lang="en-GB" sz="2800" dirty="0" smtClean="0"/>
              <a:t>.</a:t>
            </a:r>
            <a:endParaRPr lang="en-GB" sz="2800" dirty="0"/>
          </a:p>
          <a:p>
            <a:r>
              <a:rPr lang="en-GB" sz="2800" b="1" dirty="0" smtClean="0"/>
              <a:t>Processing :</a:t>
            </a:r>
            <a:endParaRPr lang="en-GB" sz="2800" b="1" dirty="0"/>
          </a:p>
          <a:p>
            <a:pPr marL="457200" indent="-457200">
              <a:buFont typeface="Arial" panose="020B0604020202020204" pitchFamily="34" charset="0"/>
              <a:buChar char="•"/>
            </a:pPr>
            <a:r>
              <a:rPr lang="en-GB" sz="2800" dirty="0"/>
              <a:t>The Flask backend handles authentication and exam flow.</a:t>
            </a:r>
          </a:p>
          <a:p>
            <a:pPr marL="457200" indent="-457200">
              <a:buFont typeface="Arial" panose="020B0604020202020204" pitchFamily="34" charset="0"/>
              <a:buChar char="•"/>
            </a:pPr>
            <a:r>
              <a:rPr lang="en-GB" sz="2800" dirty="0"/>
              <a:t>It checks student answers with stored correct answers.</a:t>
            </a:r>
          </a:p>
          <a:p>
            <a:pPr marL="457200" indent="-457200">
              <a:buFont typeface="Arial" panose="020B0604020202020204" pitchFamily="34" charset="0"/>
              <a:buChar char="•"/>
            </a:pPr>
            <a:r>
              <a:rPr lang="en-GB" sz="2800" dirty="0"/>
              <a:t>The system calculates the score instantly after submission.</a:t>
            </a:r>
          </a:p>
          <a:p>
            <a:r>
              <a:rPr lang="en-GB" sz="2800" b="1" dirty="0" smtClean="0"/>
              <a:t>Database :</a:t>
            </a:r>
            <a:endParaRPr lang="en-GB" sz="2800" b="1" dirty="0"/>
          </a:p>
          <a:p>
            <a:pPr marL="457200" indent="-457200">
              <a:buFont typeface="Arial" panose="020B0604020202020204" pitchFamily="34" charset="0"/>
              <a:buChar char="•"/>
            </a:pPr>
            <a:r>
              <a:rPr lang="en-GB" sz="2800" dirty="0"/>
              <a:t>Question details and answers are stored in structured lists </a:t>
            </a:r>
            <a:r>
              <a:rPr lang="en-GB" sz="2800" dirty="0" smtClean="0"/>
              <a:t>within the </a:t>
            </a:r>
            <a:r>
              <a:rPr lang="en-GB" sz="2800" dirty="0"/>
              <a:t>application.</a:t>
            </a:r>
          </a:p>
          <a:p>
            <a:pPr marL="457200" indent="-457200">
              <a:buFont typeface="Arial" panose="020B0604020202020204" pitchFamily="34" charset="0"/>
              <a:buChar char="•"/>
            </a:pPr>
            <a:r>
              <a:rPr lang="en-GB" sz="2800" dirty="0"/>
              <a:t>User session data is maintained during the exam.</a:t>
            </a:r>
          </a:p>
          <a:p>
            <a:pPr marL="457200" indent="-457200">
              <a:buFont typeface="Arial" panose="020B0604020202020204" pitchFamily="34" charset="0"/>
              <a:buChar char="•"/>
            </a:pPr>
            <a:r>
              <a:rPr lang="en-GB" sz="2800" dirty="0"/>
              <a:t>The system manages exam and result data through backend logic.</a:t>
            </a:r>
          </a:p>
          <a:p>
            <a:r>
              <a:rPr lang="en-GB" sz="2800" b="1" dirty="0" smtClean="0"/>
              <a:t>Output :</a:t>
            </a:r>
            <a:endParaRPr lang="en-GB" sz="2800" b="1" dirty="0"/>
          </a:p>
          <a:p>
            <a:pPr marL="457200" indent="-457200">
              <a:buFont typeface="Arial" panose="020B0604020202020204" pitchFamily="34" charset="0"/>
              <a:buChar char="•"/>
            </a:pPr>
            <a:r>
              <a:rPr lang="en-GB" sz="2800" dirty="0"/>
              <a:t>The system generates results immediately after exam submission.</a:t>
            </a:r>
          </a:p>
          <a:p>
            <a:pPr marL="457200" indent="-457200">
              <a:buFont typeface="Arial" panose="020B0604020202020204" pitchFamily="34" charset="0"/>
              <a:buChar char="•"/>
            </a:pPr>
            <a:r>
              <a:rPr lang="en-GB" sz="2800" dirty="0"/>
              <a:t>Students can view their scores instantly on the result page.</a:t>
            </a:r>
          </a:p>
          <a:p>
            <a:pPr marL="457200" indent="-457200">
              <a:buFont typeface="Arial" panose="020B0604020202020204" pitchFamily="34" charset="0"/>
              <a:buChar char="•"/>
            </a:pPr>
            <a:r>
              <a:rPr lang="en-GB" sz="2800" dirty="0"/>
              <a:t>This ensures quick, accurate, and transparent evaluation.</a:t>
            </a:r>
            <a:endParaRPr lang="en-IN" sz="2800" dirty="0"/>
          </a:p>
        </p:txBody>
      </p:sp>
      <p:pic>
        <p:nvPicPr>
          <p:cNvPr id="4"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82360" y="2020227"/>
            <a:ext cx="6677040" cy="75627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7" name="TextBox 46">
            <a:extLst>
              <a:ext uri="{FF2B5EF4-FFF2-40B4-BE49-F238E27FC236}">
                <a16:creationId xmlns=""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0850" y="1146935"/>
            <a:ext cx="4686300" cy="84923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7" name="TextBox 46">
            <a:extLst>
              <a:ext uri="{FF2B5EF4-FFF2-40B4-BE49-F238E27FC236}">
                <a16:creationId xmlns="" xmlns:a16="http://schemas.microsoft.com/office/drawing/2014/main" id="{E4ED097B-FECF-66E6-2A98-0F8B4D948FC8}"/>
              </a:ext>
            </a:extLst>
          </p:cNvPr>
          <p:cNvSpPr txBox="1"/>
          <p:nvPr/>
        </p:nvSpPr>
        <p:spPr>
          <a:xfrm>
            <a:off x="152400" y="42630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 xmlns:a16="http://schemas.microsoft.com/office/drawing/2014/main" id="{26E9F5F9-CCF8-6F05-4C01-034C88D7529E}"/>
              </a:ext>
            </a:extLst>
          </p:cNvPr>
          <p:cNvSpPr txBox="1"/>
          <p:nvPr/>
        </p:nvSpPr>
        <p:spPr>
          <a:xfrm>
            <a:off x="1821094" y="1562100"/>
            <a:ext cx="15082325" cy="14311610"/>
          </a:xfrm>
          <a:prstGeom prst="rect">
            <a:avLst/>
          </a:prstGeom>
          <a:noFill/>
        </p:spPr>
        <p:txBody>
          <a:bodyPr wrap="square" rtlCol="0">
            <a:spAutoFit/>
          </a:bodyPr>
          <a:lstStyle/>
          <a:p>
            <a:r>
              <a:rPr lang="en-GB" sz="2800" b="1" dirty="0" smtClean="0"/>
              <a:t>Frontend :</a:t>
            </a:r>
            <a:endParaRPr lang="en-GB" sz="2800" b="1" dirty="0"/>
          </a:p>
          <a:p>
            <a:pPr marL="457200" indent="-457200">
              <a:buFont typeface="Arial" panose="020B0604020202020204" pitchFamily="34" charset="0"/>
              <a:buChar char="•"/>
            </a:pPr>
            <a:r>
              <a:rPr lang="en-GB" sz="2800" dirty="0"/>
              <a:t>The frontend was developed using HTML and CSS to design responsive and user-friendly web pages.</a:t>
            </a:r>
          </a:p>
          <a:p>
            <a:pPr marL="457200" indent="-457200">
              <a:buFont typeface="Arial" panose="020B0604020202020204" pitchFamily="34" charset="0"/>
              <a:buChar char="•"/>
            </a:pPr>
            <a:r>
              <a:rPr lang="en-GB" sz="2800" dirty="0"/>
              <a:t>Enhanced styling was added to improve layout, alignment, </a:t>
            </a:r>
            <a:r>
              <a:rPr lang="en-GB" sz="2800" dirty="0" smtClean="0"/>
              <a:t>colors , </a:t>
            </a:r>
            <a:r>
              <a:rPr lang="en-GB" sz="2800" dirty="0"/>
              <a:t>and overall user experience.</a:t>
            </a:r>
          </a:p>
          <a:p>
            <a:pPr marL="457200" indent="-457200">
              <a:buFont typeface="Arial" panose="020B0604020202020204" pitchFamily="34" charset="0"/>
              <a:buChar char="•"/>
            </a:pPr>
            <a:r>
              <a:rPr lang="en-GB" sz="2800" dirty="0"/>
              <a:t>It provides interfaces for login, dashboard, exam attempt, and result display</a:t>
            </a:r>
            <a:r>
              <a:rPr lang="en-GB" sz="2800" dirty="0" smtClean="0"/>
              <a:t>.</a:t>
            </a:r>
          </a:p>
          <a:p>
            <a:pPr marL="457200" indent="-457200">
              <a:buFont typeface="Arial" panose="020B0604020202020204" pitchFamily="34" charset="0"/>
              <a:buChar char="•"/>
            </a:pPr>
            <a:endParaRPr lang="en-GB" sz="2800" dirty="0"/>
          </a:p>
          <a:p>
            <a:r>
              <a:rPr lang="en-GB" sz="2800" b="1" dirty="0" smtClean="0"/>
              <a:t>Backend :</a:t>
            </a:r>
            <a:endParaRPr lang="en-GB" sz="2800" b="1" dirty="0"/>
          </a:p>
          <a:p>
            <a:pPr marL="457200" indent="-457200">
              <a:buFont typeface="Arial" panose="020B0604020202020204" pitchFamily="34" charset="0"/>
              <a:buChar char="•"/>
            </a:pPr>
            <a:r>
              <a:rPr lang="en-GB" sz="2800" dirty="0"/>
              <a:t>The backend was implemented using Python with the Flask framework.</a:t>
            </a:r>
          </a:p>
          <a:p>
            <a:pPr marL="457200" indent="-457200">
              <a:buFont typeface="Arial" panose="020B0604020202020204" pitchFamily="34" charset="0"/>
              <a:buChar char="•"/>
            </a:pPr>
            <a:r>
              <a:rPr lang="en-GB" sz="2800" dirty="0"/>
              <a:t>It handles authentication, exam processing, answer validation, and result calculation</a:t>
            </a:r>
            <a:r>
              <a:rPr lang="en-GB" sz="2800" dirty="0" smtClean="0"/>
              <a:t>.</a:t>
            </a:r>
          </a:p>
          <a:p>
            <a:pPr marL="457200" indent="-457200">
              <a:buFont typeface="Arial" panose="020B0604020202020204" pitchFamily="34" charset="0"/>
              <a:buChar char="•"/>
            </a:pPr>
            <a:endParaRPr lang="en-GB" sz="2800" dirty="0"/>
          </a:p>
          <a:p>
            <a:r>
              <a:rPr lang="en-GB" sz="2800" b="1" dirty="0" smtClean="0"/>
              <a:t>Database :</a:t>
            </a:r>
            <a:endParaRPr lang="en-GB" sz="2800" b="1" dirty="0"/>
          </a:p>
          <a:p>
            <a:pPr marL="457200" indent="-457200">
              <a:buFont typeface="Arial" panose="020B0604020202020204" pitchFamily="34" charset="0"/>
              <a:buChar char="•"/>
            </a:pPr>
            <a:r>
              <a:rPr lang="en-GB" sz="2800" dirty="0" smtClean="0"/>
              <a:t>Currently</a:t>
            </a:r>
            <a:r>
              <a:rPr lang="en-GB" sz="2800" dirty="0"/>
              <a:t>, data is maintained using structured lists within the application </a:t>
            </a:r>
            <a:r>
              <a:rPr lang="en-GB" sz="2800" dirty="0" smtClean="0"/>
              <a:t>code.</a:t>
            </a:r>
          </a:p>
          <a:p>
            <a:pPr marL="457200" indent="-457200">
              <a:buFont typeface="Arial" panose="020B0604020202020204" pitchFamily="34" charset="0"/>
              <a:buChar char="•"/>
            </a:pPr>
            <a:r>
              <a:rPr lang="en-GB" sz="2800" dirty="0" smtClean="0"/>
              <a:t>Question </a:t>
            </a:r>
            <a:r>
              <a:rPr lang="en-GB" sz="2800" dirty="0"/>
              <a:t>details, correct answers, and user session data are managed through backend logic</a:t>
            </a:r>
            <a:r>
              <a:rPr lang="en-GB" sz="2800" dirty="0" smtClean="0"/>
              <a:t>.</a:t>
            </a:r>
          </a:p>
          <a:p>
            <a:pPr marL="457200" indent="-457200">
              <a:buFont typeface="Arial" panose="020B0604020202020204" pitchFamily="34" charset="0"/>
              <a:buChar char="•"/>
            </a:pPr>
            <a:endParaRPr lang="en-GB" sz="2800" dirty="0"/>
          </a:p>
          <a:p>
            <a:r>
              <a:rPr lang="en-GB" sz="2800" b="1" dirty="0" smtClean="0"/>
              <a:t>Tools :</a:t>
            </a:r>
            <a:endParaRPr lang="en-GB" sz="2800" b="1" dirty="0"/>
          </a:p>
          <a:p>
            <a:pPr marL="457200" indent="-457200">
              <a:buFont typeface="Arial" panose="020B0604020202020204" pitchFamily="34" charset="0"/>
              <a:buChar char="•"/>
            </a:pPr>
            <a:r>
              <a:rPr lang="en-GB" sz="2800" dirty="0"/>
              <a:t>The system was developed using Visual Studio Code as the code editor.</a:t>
            </a:r>
          </a:p>
          <a:p>
            <a:pPr marL="457200" indent="-457200">
              <a:buFont typeface="Arial" panose="020B0604020202020204" pitchFamily="34" charset="0"/>
              <a:buChar char="•"/>
            </a:pPr>
            <a:r>
              <a:rPr lang="en-GB" sz="2800" dirty="0"/>
              <a:t>Testing and execution were performed using a local development server and web browser</a:t>
            </a:r>
            <a:r>
              <a:rPr lang="en-GB" sz="2800" dirty="0" smtClean="0"/>
              <a:t>.</a:t>
            </a:r>
          </a:p>
          <a:p>
            <a:pPr marL="457200" indent="-457200">
              <a:buFont typeface="Arial" panose="020B0604020202020204" pitchFamily="34" charset="0"/>
              <a:buChar char="•"/>
            </a:pPr>
            <a:endParaRPr lang="en-GB" sz="2800" dirty="0" smtClean="0"/>
          </a:p>
          <a:p>
            <a:r>
              <a:rPr lang="en-GB" sz="2800" dirty="0" smtClean="0"/>
              <a:t> </a:t>
            </a:r>
            <a:r>
              <a:rPr lang="en-GB" sz="2800" b="1" dirty="0"/>
              <a:t>Hardware / Software </a:t>
            </a:r>
            <a:r>
              <a:rPr lang="en-GB" sz="2800" b="1" dirty="0" smtClean="0"/>
              <a:t>Requirements :</a:t>
            </a:r>
            <a:endParaRPr lang="en-GB" sz="2800" b="1" dirty="0"/>
          </a:p>
          <a:p>
            <a:pPr marL="457200" indent="-457200">
              <a:buFont typeface="Arial" panose="020B0604020202020204" pitchFamily="34" charset="0"/>
              <a:buChar char="•"/>
            </a:pPr>
            <a:r>
              <a:rPr lang="en-GB" sz="2800" b="1" dirty="0" smtClean="0"/>
              <a:t>Hardware : </a:t>
            </a:r>
            <a:r>
              <a:rPr lang="en-GB" sz="2800" dirty="0"/>
              <a:t>A standard computer or laptop with minimum 4GB RAM.</a:t>
            </a:r>
          </a:p>
          <a:p>
            <a:pPr marL="457200" indent="-457200">
              <a:buFont typeface="Arial" panose="020B0604020202020204" pitchFamily="34" charset="0"/>
              <a:buChar char="•"/>
            </a:pPr>
            <a:r>
              <a:rPr lang="en-GB" sz="2800" b="1" dirty="0" smtClean="0"/>
              <a:t>Software : </a:t>
            </a:r>
            <a:r>
              <a:rPr lang="en-GB" sz="2800" dirty="0"/>
              <a:t>Python, Flask library, and a web browser for execution.</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3" name="TextBox 42">
            <a:extLst>
              <a:ext uri="{FF2B5EF4-FFF2-40B4-BE49-F238E27FC236}">
                <a16:creationId xmlns=""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9304C197-EAC7-7A26-FAED-ED7302DBEC6E}"/>
              </a:ext>
            </a:extLst>
          </p:cNvPr>
          <p:cNvSpPr txBox="1"/>
          <p:nvPr/>
        </p:nvSpPr>
        <p:spPr>
          <a:xfrm>
            <a:off x="2176975" y="1456417"/>
            <a:ext cx="15082325" cy="8710077"/>
          </a:xfrm>
          <a:prstGeom prst="rect">
            <a:avLst/>
          </a:prstGeom>
          <a:noFill/>
        </p:spPr>
        <p:txBody>
          <a:bodyPr wrap="square" rtlCol="0">
            <a:spAutoFit/>
          </a:bodyPr>
          <a:lstStyle/>
          <a:p>
            <a:r>
              <a:rPr lang="en-GB" sz="2800" b="1" dirty="0"/>
              <a:t>Module 1: User Authentication Module</a:t>
            </a:r>
          </a:p>
          <a:p>
            <a:r>
              <a:rPr lang="en-GB" sz="2800" dirty="0" smtClean="0"/>
              <a:t>                           The </a:t>
            </a:r>
            <a:r>
              <a:rPr lang="en-GB" sz="2800" dirty="0"/>
              <a:t>User Authentication module is responsible for handling the login functionality of the system. It verifies user credentials and ensures that only authorized users can access the examination portal. This module also maintains user session data during the exam process</a:t>
            </a:r>
            <a:r>
              <a:rPr lang="en-GB" sz="2800" dirty="0" smtClean="0"/>
              <a:t>.</a:t>
            </a:r>
          </a:p>
          <a:p>
            <a:endParaRPr lang="en-GB" sz="2800" dirty="0"/>
          </a:p>
          <a:p>
            <a:r>
              <a:rPr lang="en-GB" sz="2800" b="1" dirty="0"/>
              <a:t>Module 2: Question Management Module</a:t>
            </a:r>
          </a:p>
          <a:p>
            <a:r>
              <a:rPr lang="en-GB" sz="2800" dirty="0" smtClean="0"/>
              <a:t>                           The </a:t>
            </a:r>
            <a:r>
              <a:rPr lang="en-GB" sz="2800" dirty="0"/>
              <a:t>Question Management module manages the storage and organization of exam questions and correct answers. In the current implementation, questions are maintained using structured lists within the application code. This module ensures that the correct set of questions is displayed during the examination</a:t>
            </a:r>
            <a:r>
              <a:rPr lang="en-GB" sz="2800" dirty="0" smtClean="0"/>
              <a:t>.</a:t>
            </a:r>
          </a:p>
          <a:p>
            <a:endParaRPr lang="en-GB" sz="2800" dirty="0"/>
          </a:p>
          <a:p>
            <a:r>
              <a:rPr lang="en-GB" sz="2800" b="1" dirty="0"/>
              <a:t>Module 3: Examination Module</a:t>
            </a:r>
          </a:p>
          <a:p>
            <a:r>
              <a:rPr lang="en-GB" sz="2800" dirty="0" smtClean="0"/>
              <a:t>                          The </a:t>
            </a:r>
            <a:r>
              <a:rPr lang="en-GB" sz="2800" dirty="0"/>
              <a:t>Examination module allows students to attempt objective-type questions through a user-friendly interface. It manages the flow of the exam, records the selected answers, and handles the submission process smoothly</a:t>
            </a:r>
            <a:r>
              <a:rPr lang="en-GB" sz="2800" dirty="0" smtClean="0"/>
              <a:t>.</a:t>
            </a:r>
          </a:p>
          <a:p>
            <a:endParaRPr lang="en-GB" sz="2800" dirty="0"/>
          </a:p>
          <a:p>
            <a:r>
              <a:rPr lang="en-GB" sz="2800" b="1" dirty="0"/>
              <a:t>Module 4: Evaluation and Result Module</a:t>
            </a:r>
          </a:p>
          <a:p>
            <a:r>
              <a:rPr lang="en-GB" sz="2800" dirty="0" smtClean="0"/>
              <a:t>                         The </a:t>
            </a:r>
            <a:r>
              <a:rPr lang="en-GB" sz="2800" dirty="0"/>
              <a:t>Evaluation and Result module processes the submitted answers by comparing them with the stored correct answers. It automatically calculates the score and generates the result instantly. The final output is displayed clearly to the student, ensuring accuracy and transparency.</a:t>
            </a: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3" name="TextBox 42">
            <a:extLst>
              <a:ext uri="{FF2B5EF4-FFF2-40B4-BE49-F238E27FC236}">
                <a16:creationId xmlns=""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9EC6A4DA-6D4B-3E6A-CF92-E543DD7AFBF5}"/>
              </a:ext>
            </a:extLst>
          </p:cNvPr>
          <p:cNvSpPr txBox="1"/>
          <p:nvPr/>
        </p:nvSpPr>
        <p:spPr>
          <a:xfrm>
            <a:off x="2176975" y="1864910"/>
            <a:ext cx="15082325" cy="5324535"/>
          </a:xfrm>
          <a:prstGeom prst="rect">
            <a:avLst/>
          </a:prstGeom>
          <a:noFill/>
        </p:spPr>
        <p:txBody>
          <a:bodyPr wrap="square" rtlCol="0">
            <a:spAutoFit/>
          </a:bodyPr>
          <a:lstStyle/>
          <a:p>
            <a:pPr marL="457200" indent="-457200">
              <a:buFont typeface="Arial" panose="020B0604020202020204" pitchFamily="34" charset="0"/>
              <a:buChar char="•"/>
            </a:pPr>
            <a:r>
              <a:rPr lang="en-US" sz="3200" b="1" dirty="0" smtClean="0"/>
              <a:t>Home</a:t>
            </a:r>
            <a:r>
              <a:rPr lang="en-US" sz="3200" b="1" dirty="0" smtClean="0"/>
              <a:t> </a:t>
            </a:r>
            <a:r>
              <a:rPr lang="en-US" sz="3200" b="1" dirty="0" smtClean="0"/>
              <a:t>page :</a:t>
            </a:r>
            <a:endParaRPr lang="en-US" sz="3200" b="1" dirty="0"/>
          </a:p>
          <a:p>
            <a:r>
              <a:rPr lang="en-GB" sz="2800" dirty="0" smtClean="0"/>
              <a:t>                            The </a:t>
            </a:r>
            <a:r>
              <a:rPr lang="en-GB" sz="2800" dirty="0"/>
              <a:t>Home Page gives a clear introduction to the online examination </a:t>
            </a:r>
            <a:r>
              <a:rPr lang="en-GB" sz="2800" dirty="0" smtClean="0"/>
              <a:t>system . It </a:t>
            </a:r>
            <a:r>
              <a:rPr lang="en-GB" sz="2800" dirty="0"/>
              <a:t>provides navigation options for students and </a:t>
            </a:r>
            <a:r>
              <a:rPr lang="en-GB" sz="2800" dirty="0" smtClean="0"/>
              <a:t>administrators . The </a:t>
            </a:r>
            <a:r>
              <a:rPr lang="en-GB" sz="2800" dirty="0"/>
              <a:t>design is simple, user-friendly, and easy to access.</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600" y="3851228"/>
            <a:ext cx="13030200" cy="6087562"/>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a:extLst>
              <a:ext uri="{FF2B5EF4-FFF2-40B4-BE49-F238E27FC236}">
                <a16:creationId xmlns=""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746F2C30-13B1-3754-C147-D58A899BC459}"/>
              </a:ext>
            </a:extLst>
          </p:cNvPr>
          <p:cNvSpPr txBox="1"/>
          <p:nvPr/>
        </p:nvSpPr>
        <p:spPr>
          <a:xfrm>
            <a:off x="2176975" y="1695376"/>
            <a:ext cx="15082325" cy="6247864"/>
          </a:xfrm>
          <a:prstGeom prst="rect">
            <a:avLst/>
          </a:prstGeom>
          <a:noFill/>
        </p:spPr>
        <p:txBody>
          <a:bodyPr wrap="square" rtlCol="0">
            <a:spAutoFit/>
          </a:bodyPr>
          <a:lstStyle/>
          <a:p>
            <a:pPr marL="457200" indent="-457200">
              <a:buFont typeface="Arial" panose="020B0604020202020204" pitchFamily="34" charset="0"/>
              <a:buChar char="•"/>
            </a:pPr>
            <a:r>
              <a:rPr lang="en-US" sz="2800" dirty="0" smtClean="0"/>
              <a:t> </a:t>
            </a:r>
            <a:r>
              <a:rPr lang="en-US" sz="3200" b="1" dirty="0" smtClean="0"/>
              <a:t>Login</a:t>
            </a:r>
            <a:r>
              <a:rPr lang="en-US" sz="3200" b="1" dirty="0" smtClean="0"/>
              <a:t> </a:t>
            </a:r>
            <a:r>
              <a:rPr lang="en-US" sz="3200" b="1" dirty="0" smtClean="0"/>
              <a:t>Page :</a:t>
            </a:r>
          </a:p>
          <a:p>
            <a:r>
              <a:rPr lang="en-US" sz="3200" dirty="0"/>
              <a:t> </a:t>
            </a:r>
            <a:r>
              <a:rPr lang="en-US" sz="3200" dirty="0" smtClean="0"/>
              <a:t>           </a:t>
            </a:r>
            <a:r>
              <a:rPr lang="en-US" sz="3200" dirty="0" smtClean="0"/>
              <a:t>               </a:t>
            </a:r>
            <a:r>
              <a:rPr lang="en-GB" sz="2800" dirty="0" smtClean="0"/>
              <a:t>The </a:t>
            </a:r>
            <a:r>
              <a:rPr lang="en-GB" sz="2800" dirty="0"/>
              <a:t>Login Page allows users to securely enter their </a:t>
            </a:r>
            <a:r>
              <a:rPr lang="en-GB" sz="2800" dirty="0" smtClean="0"/>
              <a:t>credentials . It </a:t>
            </a:r>
            <a:r>
              <a:rPr lang="en-GB" sz="2800" dirty="0"/>
              <a:t>verifies user details and redirects them to their respective </a:t>
            </a:r>
            <a:r>
              <a:rPr lang="en-GB" sz="2800" dirty="0" smtClean="0"/>
              <a:t>dashboard . Recent </a:t>
            </a:r>
            <a:r>
              <a:rPr lang="en-GB" sz="2800" dirty="0"/>
              <a:t>updates improved validation and smooth login </a:t>
            </a:r>
            <a:r>
              <a:rPr lang="en-GB" sz="2800" dirty="0" smtClean="0"/>
              <a:t>functionality.</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6815" y="3859547"/>
            <a:ext cx="13621105" cy="6344006"/>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a:extLst>
              <a:ext uri="{FF2B5EF4-FFF2-40B4-BE49-F238E27FC236}">
                <a16:creationId xmlns=""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6C0EA81E-D408-1A06-6895-1BF3CA09E497}"/>
              </a:ext>
            </a:extLst>
          </p:cNvPr>
          <p:cNvSpPr txBox="1"/>
          <p:nvPr/>
        </p:nvSpPr>
        <p:spPr>
          <a:xfrm>
            <a:off x="2209800" y="1638300"/>
            <a:ext cx="15082325" cy="1877437"/>
          </a:xfrm>
          <a:prstGeom prst="rect">
            <a:avLst/>
          </a:prstGeom>
          <a:noFill/>
        </p:spPr>
        <p:txBody>
          <a:bodyPr wrap="square" rtlCol="0">
            <a:spAutoFit/>
          </a:bodyPr>
          <a:lstStyle/>
          <a:p>
            <a:pPr marL="457200" indent="-457200">
              <a:buFont typeface="Arial" panose="020B0604020202020204" pitchFamily="34" charset="0"/>
              <a:buChar char="•"/>
            </a:pPr>
            <a:r>
              <a:rPr lang="en-US" sz="3200" b="1" dirty="0" smtClean="0"/>
              <a:t>Dashboard</a:t>
            </a:r>
            <a:r>
              <a:rPr lang="en-US" sz="3200" b="1" dirty="0" smtClean="0"/>
              <a:t> </a:t>
            </a:r>
            <a:r>
              <a:rPr lang="en-US" sz="3200" b="1" dirty="0"/>
              <a:t>page :</a:t>
            </a:r>
            <a:endParaRPr lang="en-US" sz="3200" dirty="0"/>
          </a:p>
          <a:p>
            <a:r>
              <a:rPr lang="en-GB" sz="2800" dirty="0" smtClean="0"/>
              <a:t>                        The </a:t>
            </a:r>
            <a:r>
              <a:rPr lang="en-GB" sz="2800" dirty="0"/>
              <a:t>Dashboard displays important options like exams, results, and management </a:t>
            </a:r>
            <a:r>
              <a:rPr lang="en-GB" sz="2800" dirty="0" smtClean="0"/>
              <a:t>features . Students </a:t>
            </a:r>
            <a:r>
              <a:rPr lang="en-GB" sz="2800" dirty="0"/>
              <a:t>can attend exams, while admins can manage questions and </a:t>
            </a:r>
            <a:r>
              <a:rPr lang="en-GB" sz="2800" dirty="0" smtClean="0"/>
              <a:t>records . The </a:t>
            </a:r>
            <a:r>
              <a:rPr lang="en-GB" sz="2800" dirty="0"/>
              <a:t>updated layout makes navigation more organized and efficient.</a:t>
            </a:r>
            <a:endParaRPr lang="en-US" sz="28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5671" y="3602135"/>
            <a:ext cx="13930143" cy="6232102"/>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5" name="Group 35">
            <a:extLst>
              <a:ext uri="{FF2B5EF4-FFF2-40B4-BE49-F238E27FC236}">
                <a16:creationId xmlns=""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 xmlns:a16="http://schemas.microsoft.com/office/drawing/2014/main" id="{341A1FDE-E3AB-682A-64B7-DA145F23EB91}"/>
              </a:ext>
            </a:extLst>
          </p:cNvPr>
          <p:cNvSpPr txBox="1"/>
          <p:nvPr/>
        </p:nvSpPr>
        <p:spPr>
          <a:xfrm>
            <a:off x="2209800" y="1638300"/>
            <a:ext cx="15082325" cy="1877437"/>
          </a:xfrm>
          <a:prstGeom prst="rect">
            <a:avLst/>
          </a:prstGeom>
          <a:noFill/>
        </p:spPr>
        <p:txBody>
          <a:bodyPr wrap="square" rtlCol="0">
            <a:spAutoFit/>
          </a:bodyPr>
          <a:lstStyle/>
          <a:p>
            <a:pPr marL="457200" indent="-457200">
              <a:buFont typeface="Arial" panose="020B0604020202020204" pitchFamily="34" charset="0"/>
              <a:buChar char="•"/>
            </a:pPr>
            <a:r>
              <a:rPr lang="en-US" sz="3200" b="1" dirty="0" smtClean="0"/>
              <a:t> Result page </a:t>
            </a:r>
            <a:r>
              <a:rPr lang="en-US" sz="3200" b="1" dirty="0" smtClean="0"/>
              <a:t>:</a:t>
            </a:r>
          </a:p>
          <a:p>
            <a:r>
              <a:rPr lang="en-GB" sz="2800" dirty="0" smtClean="0"/>
              <a:t>                      The </a:t>
            </a:r>
            <a:r>
              <a:rPr lang="en-GB" sz="2800" dirty="0"/>
              <a:t>Result Page shows the student’s exam performance and score </a:t>
            </a:r>
            <a:r>
              <a:rPr lang="en-GB" sz="2800" dirty="0" smtClean="0"/>
              <a:t>instantly . It </a:t>
            </a:r>
            <a:r>
              <a:rPr lang="en-GB" sz="2800" dirty="0"/>
              <a:t>calculates results accurately based on submitted </a:t>
            </a:r>
            <a:r>
              <a:rPr lang="en-GB" sz="2800" dirty="0" smtClean="0"/>
              <a:t>answers . Recent </a:t>
            </a:r>
            <a:r>
              <a:rPr lang="en-GB" sz="2800" dirty="0"/>
              <a:t>changes ensure faster result processing and better clarity.</a:t>
            </a:r>
            <a:endParaRPr lang="en-US" sz="2800" dirty="0"/>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9521" y="3775839"/>
            <a:ext cx="13015742" cy="613086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44" name="Group 44">
            <a:extLst>
              <a:ext uri="{FF2B5EF4-FFF2-40B4-BE49-F238E27FC236}">
                <a16:creationId xmlns=""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665734" y="2003377"/>
            <a:ext cx="14500522" cy="5755422"/>
          </a:xfrm>
          <a:prstGeom prst="rect">
            <a:avLst/>
          </a:prstGeom>
          <a:noFill/>
        </p:spPr>
        <p:txBody>
          <a:bodyPr wrap="square" rtlCol="0">
            <a:spAutoFit/>
          </a:bodyPr>
          <a:lstStyle/>
          <a:p>
            <a:r>
              <a:rPr lang="en-GB" sz="3200" b="1" dirty="0" smtClean="0"/>
              <a:t>Advantages :</a:t>
            </a:r>
            <a:endParaRPr lang="en-GB" sz="3200" b="1" dirty="0"/>
          </a:p>
          <a:p>
            <a:pPr marL="457200" indent="-457200">
              <a:buFont typeface="Arial" panose="020B0604020202020204" pitchFamily="34" charset="0"/>
              <a:buChar char="•"/>
            </a:pPr>
            <a:r>
              <a:rPr lang="en-GB" sz="2800" dirty="0"/>
              <a:t>Instant Result Generation</a:t>
            </a:r>
          </a:p>
          <a:p>
            <a:pPr marL="457200" indent="-457200">
              <a:buFont typeface="Arial" panose="020B0604020202020204" pitchFamily="34" charset="0"/>
              <a:buChar char="•"/>
            </a:pPr>
            <a:r>
              <a:rPr lang="en-GB" sz="2800" dirty="0"/>
              <a:t>Reduced Manual Effort</a:t>
            </a:r>
          </a:p>
          <a:p>
            <a:pPr marL="457200" indent="-457200">
              <a:buFont typeface="Arial" panose="020B0604020202020204" pitchFamily="34" charset="0"/>
              <a:buChar char="•"/>
            </a:pPr>
            <a:r>
              <a:rPr lang="en-GB" sz="2800" dirty="0"/>
              <a:t>User-Friendly Interface</a:t>
            </a:r>
          </a:p>
          <a:p>
            <a:pPr marL="457200" indent="-457200">
              <a:buFont typeface="Arial" panose="020B0604020202020204" pitchFamily="34" charset="0"/>
              <a:buChar char="•"/>
            </a:pPr>
            <a:r>
              <a:rPr lang="en-GB" sz="2800" dirty="0"/>
              <a:t>Improved Accuracy</a:t>
            </a:r>
          </a:p>
          <a:p>
            <a:pPr marL="457200" indent="-457200">
              <a:buFont typeface="Arial" panose="020B0604020202020204" pitchFamily="34" charset="0"/>
              <a:buChar char="•"/>
            </a:pPr>
            <a:r>
              <a:rPr lang="en-GB" sz="2800" dirty="0"/>
              <a:t>Lightweight and Easy </a:t>
            </a:r>
            <a:r>
              <a:rPr lang="en-GB" sz="2800" dirty="0" smtClean="0"/>
              <a:t>Deployment</a:t>
            </a:r>
          </a:p>
          <a:p>
            <a:pPr marL="457200" indent="-457200">
              <a:buFont typeface="Arial" panose="020B0604020202020204" pitchFamily="34" charset="0"/>
              <a:buChar char="•"/>
            </a:pPr>
            <a:endParaRPr lang="en-GB" sz="2800" dirty="0"/>
          </a:p>
          <a:p>
            <a:r>
              <a:rPr lang="en-GB" sz="2800" b="1" dirty="0" smtClean="0"/>
              <a:t>Limitations :</a:t>
            </a:r>
            <a:endParaRPr lang="en-GB" sz="2800" b="1" dirty="0"/>
          </a:p>
          <a:p>
            <a:pPr marL="457200" indent="-457200">
              <a:buFont typeface="Arial" panose="020B0604020202020204" pitchFamily="34" charset="0"/>
              <a:buChar char="•"/>
            </a:pPr>
            <a:r>
              <a:rPr lang="en-GB" sz="2800" dirty="0"/>
              <a:t>No External Database Integration</a:t>
            </a:r>
          </a:p>
          <a:p>
            <a:pPr marL="457200" indent="-457200">
              <a:buFont typeface="Arial" panose="020B0604020202020204" pitchFamily="34" charset="0"/>
              <a:buChar char="•"/>
            </a:pPr>
            <a:r>
              <a:rPr lang="en-GB" sz="2800" dirty="0"/>
              <a:t>Basic User Interface Design</a:t>
            </a:r>
          </a:p>
          <a:p>
            <a:pPr marL="457200" indent="-457200">
              <a:buFont typeface="Arial" panose="020B0604020202020204" pitchFamily="34" charset="0"/>
              <a:buChar char="•"/>
            </a:pPr>
            <a:r>
              <a:rPr lang="en-GB" sz="2800" dirty="0"/>
              <a:t>Limited Security Features</a:t>
            </a:r>
          </a:p>
          <a:p>
            <a:pPr marL="457200" indent="-457200">
              <a:buFont typeface="Arial" panose="020B0604020202020204" pitchFamily="34" charset="0"/>
              <a:buChar char="•"/>
            </a:pPr>
            <a:r>
              <a:rPr lang="en-GB" sz="2800" dirty="0"/>
              <a:t>Supports Only Objective-Type Questions</a:t>
            </a:r>
          </a:p>
          <a:p>
            <a:pPr marL="457200" indent="-457200">
              <a:buFont typeface="Arial" panose="020B0604020202020204" pitchFamily="34" charset="0"/>
              <a:buChar char="•"/>
            </a:pPr>
            <a:r>
              <a:rPr lang="en-GB" sz="2800" dirty="0"/>
              <a:t>Local Deployment Only</a:t>
            </a: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TotalTime>
  <Words>1340</Words>
  <Application>Microsoft Office PowerPoint</Application>
  <PresentationFormat>Custom</PresentationFormat>
  <Paragraphs>302</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Gotham Bold Italics</vt:lpstr>
      <vt:lpstr>Cambria</vt:lpstr>
      <vt:lpstr>Bookman Old Style</vt:lpstr>
      <vt:lpstr>Calibri</vt:lpstr>
      <vt:lpstr>Times New Roman</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HP</dc:creator>
  <cp:lastModifiedBy>HP</cp:lastModifiedBy>
  <cp:revision>30</cp:revision>
  <dcterms:created xsi:type="dcterms:W3CDTF">2006-08-16T00:00:00Z</dcterms:created>
  <dcterms:modified xsi:type="dcterms:W3CDTF">2026-03-04T02:08:19Z</dcterms:modified>
  <dc:identifier>DAHCaYqJ9OU</dc:identifier>
</cp:coreProperties>
</file>